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430"/>
                </a:solidFill>
                <a:latin typeface="Calibri"/>
              </a:rPr>
              <a:t>Students by Risk Level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D645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A36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High Risk</c:v>
                  </c:pt>
                  <c:pt idx="1">
                    <c:v>Medium Risk</c:v>
                  </c:pt>
                  <c:pt idx="2">
                    <c:v>Low Risk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197</c:v>
                </c:pt>
                <c:pt idx="1">
                  <c:v>272</c:v>
                </c:pt>
                <c:pt idx="2">
                  <c:v>531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B2430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1B2430"/>
                </a:solidFill>
                <a:latin typeface="Calibri"/>
              </a:rPr>
              <a:t>Pass Rate by Attendance Band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</c:v>
                </c:pt>
              </c:strCache>
            </c:strRef>
          </c:tx>
          <c:spPr>
            <a:solidFill>
              <a:srgbClr val="D6455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&lt;60%</c:v>
                  </c:pt>
                  <c:pt idx="1">
                    <c:v>60–75%</c:v>
                  </c:pt>
                  <c:pt idx="2">
                    <c:v>75–90%</c:v>
                  </c:pt>
                  <c:pt idx="3">
                    <c:v>90–100%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22.9</c:v>
                </c:pt>
                <c:pt idx="1">
                  <c:v>84.1</c:v>
                </c:pt>
                <c:pt idx="2">
                  <c:v>99.3</c:v>
                </c:pt>
                <c:pt idx="3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B2430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1B2430"/>
                </a:solidFill>
                <a:latin typeface="Calibri"/>
              </a:rPr>
              <a:t>Pass Rate by Study Hours Band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&lt;3 hrs</c:v>
                  </c:pt>
                  <c:pt idx="1">
                    <c:v>3–6 hrs</c:v>
                  </c:pt>
                  <c:pt idx="2">
                    <c:v>6–9 hrs</c:v>
                  </c:pt>
                  <c:pt idx="3">
                    <c:v>9+ hrs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20.7</c:v>
                </c:pt>
                <c:pt idx="1">
                  <c:v>85.3</c:v>
                </c:pt>
                <c:pt idx="2">
                  <c:v>99.4</c:v>
                </c:pt>
                <c:pt idx="3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430"/>
                </a:solidFill>
                <a:latin typeface="Calibri"/>
              </a:rPr>
              <a:t>Risk Level by Section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D645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</c:v>
                </c:pt>
                <c:pt idx="1">
                  <c:v>47</c:v>
                </c:pt>
                <c:pt idx="2">
                  <c:v>49</c:v>
                </c:pt>
                <c:pt idx="3">
                  <c:v>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84</c:v>
                </c:pt>
                <c:pt idx="1">
                  <c:v>71</c:v>
                </c:pt>
                <c:pt idx="2">
                  <c:v>54</c:v>
                </c:pt>
                <c:pt idx="3">
                  <c:v>63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2FA3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153</c:v>
                </c:pt>
                <c:pt idx="1">
                  <c:v>122</c:v>
                </c:pt>
                <c:pt idx="2">
                  <c:v>142</c:v>
                </c:pt>
                <c:pt idx="3">
                  <c:v>114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108960" cy="3108960"/>
          </a:xfrm>
          <a:prstGeom prst="ellipse">
            <a:avLst/>
          </a:prstGeom>
          <a:solidFill>
            <a:srgbClr val="2FC1A9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2926080" cy="292608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C1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Pass / Fail Risk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Report Cards Go Out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rules-based early-warning model built from Attendance, Study Hours and Previous Marks — scored, ranked and dashboarded for 1,000 students across 4 sections.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C1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5669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SCORED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C1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46120" y="5669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SECTIONS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216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C1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852160" y="5669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BREAKDOWNS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5820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C1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58200" y="5669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INPUT FACTORS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Struggling Students Are Found Too Late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1,000 students across 4 sections, no teacher can eyeball every record by hand — by the time report cards arrive, the window to intervene has closed.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07492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6032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5786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44805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invisible until it's too late — attendance dips and weak scores pile up quietly.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of 1,000 records per term is not realistic for any single teacher.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(tutoring, catch-up classes) start only after a test is already failed.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06440" y="2240280"/>
            <a:ext cx="5852160" cy="3977640"/>
          </a:xfrm>
          <a:prstGeom prst="roundRect">
            <a:avLst>
              <a:gd name="adj" fmla="val 2759"/>
            </a:avLst>
          </a:prstGeom>
          <a:solidFill>
            <a:srgbClr val="21295C"/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0" y="2560320"/>
            <a:ext cx="457200" cy="457200"/>
          </a:xfrm>
          <a:prstGeom prst="ellipse">
            <a:avLst/>
          </a:prstGeom>
          <a:solidFill>
            <a:srgbClr val="2FC1A9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20840" y="25786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26480" y="3246120"/>
            <a:ext cx="365760" cy="365760"/>
          </a:xfrm>
          <a:prstGeom prst="ellipse">
            <a:avLst/>
          </a:prstGeom>
          <a:solidFill>
            <a:srgbClr val="2FC1A9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19125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attendance, study hours &amp; previous marks for every student.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3904488"/>
            <a:ext cx="365760" cy="365760"/>
          </a:xfrm>
          <a:prstGeom prst="ellipse">
            <a:avLst/>
          </a:prstGeom>
          <a:solidFill>
            <a:srgbClr val="2FC1A9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3904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384962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formula scores each student 0–100 and flags a risk level, instantly.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4562856"/>
            <a:ext cx="365760" cy="365760"/>
          </a:xfrm>
          <a:prstGeom prst="ellipse">
            <a:avLst/>
          </a:prstGeom>
          <a:solidFill>
            <a:srgbClr val="2FC1A9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4562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50799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pivot tables slice results by risk, section, gender, score band and more.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26480" y="5221224"/>
            <a:ext cx="365760" cy="365760"/>
          </a:xfrm>
          <a:prstGeom prst="ellipse">
            <a:avLst/>
          </a:prstGeom>
          <a:solidFill>
            <a:srgbClr val="2FC1A9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5221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5166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turns pivots into a ranked, actionable support list.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Prediction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rules-based score — not a black box. Every number traces back to three inputs.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24612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5856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Marks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31920" y="2148840"/>
            <a:ext cx="3246120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225856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069080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0" y="2148840"/>
            <a:ext cx="3840480" cy="1234440"/>
          </a:xfrm>
          <a:prstGeom prst="roundRect">
            <a:avLst>
              <a:gd name="adj" fmla="val 7407"/>
            </a:avLst>
          </a:prstGeom>
          <a:solidFill>
            <a:srgbClr val="2FC1A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22585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452360" y="2788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(capped at 10/wk)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 Score  =  ROUND( 0.4 × Previous Marks%  +  0.3 × Attendance%  +  0.3 × MIN(Study Hrs/10, 1) × 100 ,  1 )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3630168" cy="1828800"/>
          </a:xfrm>
          <a:prstGeom prst="roundRect">
            <a:avLst>
              <a:gd name="adj" fmla="val 5000"/>
            </a:avLst>
          </a:prstGeom>
          <a:solidFill>
            <a:srgbClr val="F4F8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553712"/>
            <a:ext cx="128016" cy="45720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480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Risk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828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65–100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52578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 — 531 students (53.1%)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61688" y="4343400"/>
            <a:ext cx="3630168" cy="1828800"/>
          </a:xfrm>
          <a:prstGeom prst="roundRect">
            <a:avLst>
              <a:gd name="adj" fmla="val 5000"/>
            </a:avLst>
          </a:prstGeom>
          <a:solidFill>
            <a:srgbClr val="F4F8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4553712"/>
            <a:ext cx="128016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4480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Risk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64608" y="4828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50–64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52578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closely — 272 students (27.2%)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74736" y="4343400"/>
            <a:ext cx="3630168" cy="1828800"/>
          </a:xfrm>
          <a:prstGeom prst="roundRect">
            <a:avLst>
              <a:gd name="adj" fmla="val 5000"/>
            </a:avLst>
          </a:prstGeom>
          <a:solidFill>
            <a:srgbClr val="F4F8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30768" y="4553712"/>
            <a:ext cx="128016" cy="45720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27" name="Text 25"/>
          <p:cNvSpPr/>
          <p:nvPr/>
        </p:nvSpPr>
        <p:spPr>
          <a:xfrm>
            <a:off x="8677656" y="4480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Risk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77656" y="4828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below 50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30768" y="52578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support now — 197 students (19.7%)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C1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CLASS-WIDE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79192" cy="2651760"/>
          </a:xfrm>
          <a:prstGeom prst="roundRect">
            <a:avLst>
              <a:gd name="adj" fmla="val 4138"/>
            </a:avLst>
          </a:prstGeom>
          <a:solidFill>
            <a:srgbClr val="1B2E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C1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80.3%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Pass Rate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803 of 1,000 students predicted to pass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1691640"/>
            <a:ext cx="2679192" cy="2651760"/>
          </a:xfrm>
          <a:prstGeom prst="roundRect">
            <a:avLst>
              <a:gd name="adj" fmla="val 4138"/>
            </a:avLst>
          </a:prstGeom>
          <a:solidFill>
            <a:srgbClr val="1B2E5C"/>
          </a:solidFill>
          <a:ln/>
        </p:spPr>
      </p:sp>
      <p:sp>
        <p:nvSpPr>
          <p:cNvPr id="9" name="Text 7"/>
          <p:cNvSpPr/>
          <p:nvPr/>
        </p:nvSpPr>
        <p:spPr>
          <a:xfrm>
            <a:off x="3593592" y="19659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C1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19.7%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593592" y="28803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Share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93592" y="35204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 students flagged for immediate support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2784" y="1691640"/>
            <a:ext cx="2679192" cy="2651760"/>
          </a:xfrm>
          <a:prstGeom prst="roundRect">
            <a:avLst>
              <a:gd name="adj" fmla="val 4138"/>
            </a:avLst>
          </a:prstGeom>
          <a:solidFill>
            <a:srgbClr val="1B2E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55664" y="19659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C1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79.7%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455664" y="28803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Attendance — Pass Group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55664" y="35204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52.0% for the fail group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34856" y="1691640"/>
            <a:ext cx="2679192" cy="2651760"/>
          </a:xfrm>
          <a:prstGeom prst="roundRect">
            <a:avLst>
              <a:gd name="adj" fmla="val 4138"/>
            </a:avLst>
          </a:prstGeom>
          <a:solidFill>
            <a:srgbClr val="1B2E5C"/>
          </a:solidFill>
          <a:ln/>
        </p:spPr>
      </p:sp>
      <p:sp>
        <p:nvSpPr>
          <p:cNvPr id="17" name="Text 15"/>
          <p:cNvSpPr/>
          <p:nvPr/>
        </p:nvSpPr>
        <p:spPr>
          <a:xfrm>
            <a:off x="9317736" y="19659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C1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317736" y="28803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Correlation Factor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317736" y="35204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Marks ↔ Performance Score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SECTION BY AVERAGE SCORE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2679192" cy="1097280"/>
          </a:xfrm>
          <a:prstGeom prst="roundRect">
            <a:avLst>
              <a:gd name="adj" fmla="val 8333"/>
            </a:avLst>
          </a:prstGeom>
          <a:solidFill>
            <a:srgbClr val="2FC1A9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1937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532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66.8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3410712" y="5074920"/>
            <a:ext cx="2679192" cy="1097280"/>
          </a:xfrm>
          <a:prstGeom prst="roundRect">
            <a:avLst>
              <a:gd name="adj" fmla="val 8333"/>
            </a:avLst>
          </a:prstGeom>
          <a:solidFill>
            <a:srgbClr val="1B2E5C"/>
          </a:solidFill>
          <a:ln/>
        </p:spPr>
      </p:sp>
      <p:sp>
        <p:nvSpPr>
          <p:cNvPr id="25" name="Text 23"/>
          <p:cNvSpPr/>
          <p:nvPr/>
        </p:nvSpPr>
        <p:spPr>
          <a:xfrm>
            <a:off x="3593592" y="51937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93592" y="5532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C1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66.3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272784" y="5074920"/>
            <a:ext cx="2679192" cy="1097280"/>
          </a:xfrm>
          <a:prstGeom prst="roundRect">
            <a:avLst>
              <a:gd name="adj" fmla="val 8333"/>
            </a:avLst>
          </a:prstGeom>
          <a:solidFill>
            <a:srgbClr val="1B2E5C"/>
          </a:solidFill>
          <a:ln/>
        </p:spPr>
      </p:sp>
      <p:sp>
        <p:nvSpPr>
          <p:cNvPr id="28" name="Text 26"/>
          <p:cNvSpPr/>
          <p:nvPr/>
        </p:nvSpPr>
        <p:spPr>
          <a:xfrm>
            <a:off x="6455664" y="51937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55664" y="5532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C1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64.9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9134856" y="5074920"/>
            <a:ext cx="2679192" cy="1097280"/>
          </a:xfrm>
          <a:prstGeom prst="roundRect">
            <a:avLst>
              <a:gd name="adj" fmla="val 8333"/>
            </a:avLst>
          </a:prstGeom>
          <a:solidFill>
            <a:srgbClr val="1B2E5C"/>
          </a:solidFill>
          <a:ln/>
        </p:spPr>
      </p:sp>
      <p:sp>
        <p:nvSpPr>
          <p:cNvPr id="31" name="Text 29"/>
          <p:cNvSpPr/>
          <p:nvPr/>
        </p:nvSpPr>
        <p:spPr>
          <a:xfrm>
            <a:off x="9317736" y="51937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17736" y="5532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C1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64.5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Risk Tiers, Ranked by Urgency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7607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920240"/>
          <a:ext cx="5029200" cy="18288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Attend.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Study Hrs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A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583680" y="4114800"/>
            <a:ext cx="5029200" cy="2148840"/>
          </a:xfrm>
          <a:prstGeom prst="roundRect">
            <a:avLst>
              <a:gd name="adj" fmla="val 4255"/>
            </a:avLst>
          </a:prstGeom>
          <a:solidFill>
            <a:srgbClr val="F4F8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858000" y="42793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858000" y="4709160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students study 4x fewer hours per week and attend ~33 points less often than low-risk peers — attendance and study time are the levers most within a school's control.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SCORE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Factor Matters — Some More Than Others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Marks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1737360"/>
            <a:ext cx="3566160" cy="292608"/>
          </a:xfrm>
          <a:prstGeom prst="roundRect">
            <a:avLst>
              <a:gd name="adj" fmla="val 18750"/>
            </a:avLst>
          </a:prstGeom>
          <a:solidFill>
            <a:srgbClr val="E2E8ED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3280867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0" y="1691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585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Hours/Week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304288"/>
            <a:ext cx="3566160" cy="292608"/>
          </a:xfrm>
          <a:prstGeom prst="roundRect">
            <a:avLst>
              <a:gd name="adj" fmla="val 18750"/>
            </a:avLst>
          </a:prstGeom>
          <a:solidFill>
            <a:srgbClr val="E2E8ED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2304288"/>
            <a:ext cx="3245206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22585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82549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2871216"/>
            <a:ext cx="3566160" cy="292608"/>
          </a:xfrm>
          <a:prstGeom prst="roundRect">
            <a:avLst>
              <a:gd name="adj" fmla="val 18750"/>
            </a:avLst>
          </a:prstGeom>
          <a:solidFill>
            <a:srgbClr val="E2E8ED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2871216"/>
            <a:ext cx="3173882" cy="292608"/>
          </a:xfrm>
          <a:prstGeom prst="roundRect">
            <a:avLst>
              <a:gd name="adj" fmla="val 18750"/>
            </a:avLst>
          </a:prstGeom>
          <a:solidFill>
            <a:srgbClr val="2FC1A9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282549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C1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43814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Performance Score (–1 to +1)</a:t>
            </a:r>
            <a:endParaRPr lang="en-US" sz="10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8046720" y="1554480"/>
          <a:ext cx="36576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Chart 1" descr=""/>
          <p:cNvGraphicFramePr/>
          <p:nvPr/>
        </p:nvGraphicFramePr>
        <p:xfrm>
          <a:off x="8046720" y="4069080"/>
          <a:ext cx="36576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Shape 15"/>
          <p:cNvSpPr/>
          <p:nvPr/>
        </p:nvSpPr>
        <p:spPr>
          <a:xfrm>
            <a:off x="548640" y="3749040"/>
            <a:ext cx="70408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296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822960" y="4389120"/>
            <a:ext cx="64922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3 hrs/week of study or 60% attendance, pass rates collapse to ~21–23%.
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a 6-hour study or 75% attendance threshold and pass rates jump above 99% — clear, actionable thresholds for intervention design.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AT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Breakdown by Section and Gender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309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600200"/>
            <a:ext cx="4434840" cy="160020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06640" y="1709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06640" y="2039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485 students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06640" y="2377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81.6%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406640" y="284378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915400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66.3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915400" y="28437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241280" y="2377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0241280" y="28437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178040" y="3383280"/>
            <a:ext cx="4434840" cy="160020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06640" y="34930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Female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06640" y="38221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515 students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06640" y="4160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79.0%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406640" y="46268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915400" y="4160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65.2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915400" y="46268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241280" y="4160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0241280" y="46268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178040" y="5166360"/>
            <a:ext cx="4434840" cy="1188720"/>
          </a:xfrm>
          <a:prstGeom prst="roundRect">
            <a:avLst>
              <a:gd name="adj" fmla="val 7692"/>
            </a:avLst>
          </a:prstGeom>
          <a:solidFill>
            <a:srgbClr val="21295C"/>
          </a:solidFill>
          <a:ln/>
        </p:spPr>
      </p:sp>
      <p:sp>
        <p:nvSpPr>
          <p:cNvPr id="24" name="Text 21"/>
          <p:cNvSpPr/>
          <p:nvPr/>
        </p:nvSpPr>
        <p:spPr>
          <a:xfrm>
            <a:off x="7452360" y="52852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D needs the closest watch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452360" y="565099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avg. score (64.5) and highest high-risk count (52) of the 4 sections; female students carry a slightly higher high-risk count than male (108 vs 89).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ACTION 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&amp; Bottom 10 Performers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individual lists let staff act this week, not next term.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0352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48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— EXCELLING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788920"/>
          <a:ext cx="4846320" cy="329184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8229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Gaurav Chandra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STU0074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A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Deepika Naidu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STU0135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A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Anita Singh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STU0211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A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Manisha Menon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STU0259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A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 Ghosh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STU0353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A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309360" y="1920240"/>
            <a:ext cx="530352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2148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10 — AT RISK</a:t>
            </a:r>
            <a:endParaRPr lang="en-US" sz="12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788920"/>
          <a:ext cx="4846320" cy="329184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8229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Suman Rao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STU0650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Abhishek Pandey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STU0548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Ankit Desai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STU0115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Pooja Rao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STU0574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Nisha Chauhan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STU0995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C1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 to Intervention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30168" cy="2057400"/>
          </a:xfrm>
          <a:prstGeom prst="roundRect">
            <a:avLst>
              <a:gd name="adj" fmla="val 4444"/>
            </a:avLst>
          </a:prstGeom>
          <a:solidFill>
            <a:srgbClr val="1B2E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C1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the High-Risk 197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30-name support list on the Dashboard — avg. attendance is 52% and avg. study time is just 2 hrs/week.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61688" y="1691640"/>
            <a:ext cx="3630168" cy="2057400"/>
          </a:xfrm>
          <a:prstGeom prst="roundRect">
            <a:avLst>
              <a:gd name="adj" fmla="val 4444"/>
            </a:avLst>
          </a:prstGeom>
          <a:solidFill>
            <a:srgbClr val="1B2E5C"/>
          </a:solidFill>
          <a:ln/>
        </p:spPr>
      </p:sp>
      <p:sp>
        <p:nvSpPr>
          <p:cNvPr id="9" name="Text 7"/>
          <p:cNvSpPr/>
          <p:nvPr/>
        </p:nvSpPr>
        <p:spPr>
          <a:xfrm>
            <a:off x="4590288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C1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90288" y="23774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60% attendance &amp; 6-hr study thresholds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0288" y="2971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rates jump from ~22% to 99%+ once students cross these lines — the clearest levers available.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74736" y="1691640"/>
            <a:ext cx="3630168" cy="2057400"/>
          </a:xfrm>
          <a:prstGeom prst="roundRect">
            <a:avLst>
              <a:gd name="adj" fmla="val 4444"/>
            </a:avLst>
          </a:prstGeom>
          <a:solidFill>
            <a:srgbClr val="1B2E5C"/>
          </a:solidFill>
          <a:ln/>
        </p:spPr>
      </p:sp>
      <p:sp>
        <p:nvSpPr>
          <p:cNvPr id="13" name="Text 11"/>
          <p:cNvSpPr/>
          <p:nvPr/>
        </p:nvSpPr>
        <p:spPr>
          <a:xfrm>
            <a:off x="8403336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C1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403336" y="23774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Section D extra support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03336" y="2971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average score and highest high-risk count of the four sections.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630168" cy="2057400"/>
          </a:xfrm>
          <a:prstGeom prst="roundRect">
            <a:avLst>
              <a:gd name="adj" fmla="val 4444"/>
            </a:avLst>
          </a:prstGeom>
          <a:solidFill>
            <a:srgbClr val="1B2E5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114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C1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7240" y="46634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inputs over time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5257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completion, quiz scores or parental engagement can sharpen the score further.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61688" y="3977640"/>
            <a:ext cx="3630168" cy="2057400"/>
          </a:xfrm>
          <a:prstGeom prst="roundRect">
            <a:avLst>
              <a:gd name="adj" fmla="val 4444"/>
            </a:avLst>
          </a:prstGeom>
          <a:solidFill>
            <a:srgbClr val="1B2E5C"/>
          </a:solidFill>
          <a:ln/>
        </p:spPr>
      </p:sp>
      <p:sp>
        <p:nvSpPr>
          <p:cNvPr id="21" name="Text 19"/>
          <p:cNvSpPr/>
          <p:nvPr/>
        </p:nvSpPr>
        <p:spPr>
          <a:xfrm>
            <a:off x="4590288" y="4114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C1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90288" y="46634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a trained ML model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90288" y="5257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term of verified outcomes exists, fit a logistic regression / decision tree against this formula as a baseline.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74736" y="3977640"/>
            <a:ext cx="3630168" cy="2057400"/>
          </a:xfrm>
          <a:prstGeom prst="roundRect">
            <a:avLst>
              <a:gd name="adj" fmla="val 4444"/>
            </a:avLst>
          </a:prstGeom>
          <a:solidFill>
            <a:srgbClr val="1B2E5C"/>
          </a:solidFill>
          <a:ln/>
        </p:spPr>
      </p:sp>
      <p:sp>
        <p:nvSpPr>
          <p:cNvPr id="25" name="Text 23"/>
          <p:cNvSpPr/>
          <p:nvPr/>
        </p:nvSpPr>
        <p:spPr>
          <a:xfrm>
            <a:off x="8403336" y="4114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C1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403336" y="46634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accuracy each term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03336" y="5257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Actual Result column and compare against Predicted Result to measure real-world accuracy.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84048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3291840" cy="329184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Student, Accounted For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analysis every few weeks — paste new Attendance, Study Hours and Previous Marks into Student Data, and every score, pivot table and dashboard recalculates automatically.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C1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2026-08-13T18:28:17Z</dcterms:created>
  <dcterms:modified xsi:type="dcterms:W3CDTF">2026-08-13T18:28:17Z</dcterms:modified>
</cp:coreProperties>
</file>